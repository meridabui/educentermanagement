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JetBrains Mono"/>
      <ns0:bold ns1:id="rIdFont19"/>
      <ns0:regular ns1:id="rIdFont20"/>
    </ns0:embeddedFont>
    <ns0:embeddedFont>
      <ns0:font typeface="Plus Jakarta Sans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Font19" Type="http://schemas.openxmlformats.org/officeDocument/2006/relationships/font" Target="fonts/396a6556-d52c-45a8-9976-fbab1b467726.fntdata"/><Relationship Id="rIdFont20" Type="http://schemas.openxmlformats.org/officeDocument/2006/relationships/font" Target="fonts/39964045-2f92-41b0-af8c-396b14683fcf.fntdata"/><Relationship Id="rIdFont21" Type="http://schemas.openxmlformats.org/officeDocument/2006/relationships/font" Target="fonts/f371a248-8dfc-4e13-b63b-b50f041eae5e.fntdata"/><Relationship Id="rIdFont22" Type="http://schemas.openxmlformats.org/officeDocument/2006/relationships/font" Target="fonts/53948f5f-38d8-426c-9de0-35b44e86b791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83298"/>
            <a:ext cx="685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5500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A580C"/>
                </a:solidFill>
                <a:latin typeface="JetBrains Mono"/>
              </a:rPr>
              <a:t>Y COMBINATOR // STARTUP FINANCE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20200" y="619125"/>
            <a:ext cx="2762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A1A1AA"/>
                </a:solidFill>
                <a:latin typeface="JetBrains Mono"/>
              </a:rPr>
              <a:t>SPEAKER: KIRSTY NATHOO (CFO)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098476"/>
            <a:ext cx="9701212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1" sz="4500" i="0" u="none">
                <a:solidFill>
                  <a:srgbClr val="FAFAF9"/>
                </a:solidFill>
                <a:latin typeface="Plus Jakarta Sans"/>
              </a:rPr>
              <a:t>6 Financial Mistakes That Cause Startups to Run Out of Cash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06998"/>
            <a:ext cx="7524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A1A1AA"/>
                </a:solidFill>
                <a:latin typeface="Plus Jakarta Sans"/>
              </a:rPr>
              <a:t>Practical lessons from nearly 2,000 Y Combinator companies on cash flow management, cost control, hiring, and critical fundraising timing.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819775"/>
            <a:ext cx="614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1717A"/>
                </a:solidFill>
                <a:latin typeface="JetBrains Mono"/>
              </a:rPr>
              <a:t>CORE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029325"/>
            <a:ext cx="6143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4E4E7"/>
                </a:solidFill>
                <a:latin typeface="Plus Jakarta Sans"/>
              </a:rPr>
              <a:t>Cash is the lifeblood of a business — when the cash runs out, it’s 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14600"/>
            <a:ext cx="4191000" cy="2790825"/>
          </a:xfrm>
          <a:prstGeom prst="roundRect">
            <a:avLst>
              <a:gd name="adj" fmla="val 4095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57800" y="2166937"/>
            <a:ext cx="6324600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57800" y="4024312"/>
            <a:ext cx="6324600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CONTEXT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8181B"/>
                </a:solidFill>
                <a:latin typeface="Plus Jakarta Sans"/>
              </a:rPr>
              <a:t>Why Do Startups Die When They Run Out of Cash?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2905125"/>
            <a:ext cx="4262437" cy="1057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300" i="0" u="none">
                <a:solidFill>
                  <a:srgbClr val="EA580C"/>
                </a:solidFill>
                <a:latin typeface="JetBrains Mono"/>
              </a:rPr>
              <a:t>2.000+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076700"/>
            <a:ext cx="447555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8181B"/>
                </a:solidFill>
                <a:latin typeface="Plus Jakarta Sans"/>
              </a:rPr>
              <a:t>Startups Through a CFO’s Eyes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476750"/>
            <a:ext cx="3505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Most startups realize they are running out of cash only when it is too late to turn things around.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2125" y="2443162"/>
            <a:ext cx="6619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GROUP 1 // EARLY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2125" y="2690812"/>
            <a:ext cx="608076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Plus Jakarta Sans"/>
              </a:rPr>
              <a:t>1. Unclear Metrics • 2. Failure to Monitor • 3. Underestimating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2125" y="3300412"/>
            <a:ext cx="6619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Understand your cash flow health directly from your bank statements.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2125" y="4300537"/>
            <a:ext cx="6619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JetBrains Mono"/>
              </a:rPr>
              <a:t>GROUP 2 // FUNDRAISING &amp;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2125" y="4548187"/>
            <a:ext cx="608076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Plus Jakarta Sans"/>
              </a:rPr>
              <a:t>4. Blindly Delegating Accounting • 5. Scaling Too Quickly • 6. Fundraising Too 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2125" y="5157787"/>
            <a:ext cx="6619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Maintain capital discipline before and after achieving Product-Market 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762625"/>
            <a:ext cx="10972800" cy="638175"/>
          </a:xfrm>
          <a:prstGeom prst="roundRect">
            <a:avLst>
              <a:gd name="adj" fmla="val 14925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824037"/>
            <a:ext cx="3505200" cy="1866900"/>
          </a:xfrm>
          <a:prstGeom prst="roundRect">
            <a:avLst>
              <a:gd name="adj" fmla="val 6122"/>
            </a:avLst>
          </a:prstGeom>
          <a:solidFill>
            <a:srgbClr val="FAF9F6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1824037"/>
            <a:ext cx="3505200" cy="1866900"/>
          </a:xfrm>
          <a:prstGeom prst="roundRect">
            <a:avLst>
              <a:gd name="adj" fmla="val 6122"/>
            </a:avLst>
          </a:prstGeom>
          <a:solidFill>
            <a:srgbClr val="FAF9F6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1714500"/>
            <a:ext cx="3505200" cy="2085975"/>
          </a:xfrm>
          <a:prstGeom prst="roundRect">
            <a:avLst>
              <a:gd name="adj" fmla="val 5479"/>
            </a:avLst>
          </a:prstGeom>
          <a:solidFill>
            <a:srgbClr val="FAF9F6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MISTAKE 01 // PART A: THE BASIC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8181B"/>
                </a:solidFill>
                <a:latin typeface="Plus Jakarta Sans"/>
              </a:rPr>
              <a:t>Not Understanding 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28725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You only need your online bank statement and three figures: current balance, money in, and money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72175"/>
            <a:ext cx="10263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AFAF9"/>
                </a:solidFill>
                <a:latin typeface="Plus Jakarta Sans"/>
              </a:rPr>
              <a:t>Kirsty Nathoo’s warning: Pretending your burn rate is $10K instead of $15K will not change the day you run out of money.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77375" y="5986462"/>
            <a:ext cx="2250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A580C"/>
                </a:solidFill>
                <a:latin typeface="JetBrains Mono"/>
              </a:rPr>
              <a:t>DON’T FOOL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100262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91C1C"/>
                </a:solidFill>
                <a:latin typeface="JetBrains Mono"/>
              </a:rPr>
              <a:t>1. BURN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347912"/>
            <a:ext cx="3690937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18181B"/>
                </a:solidFill>
                <a:latin typeface="JetBrains Mono"/>
              </a:rPr>
              <a:t>$15K/month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976562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$25K spent minus $10K received. Use a three-month average if expenses fluctuate sharply.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2100262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2. RUNWAY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2347912"/>
            <a:ext cx="3690937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18181B"/>
                </a:solidFill>
                <a:latin typeface="JetBrains Mono"/>
              </a:rPr>
              <a:t>10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2976562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A $150K balance divided by a $15K burn rate. Never distort the numbers to reassure yourself.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1990725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JetBrains Mono"/>
              </a:rPr>
              <a:t>3. GROWTH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2238375"/>
            <a:ext cx="3690937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18181B"/>
                </a:solidFill>
                <a:latin typeface="JetBrains Mono"/>
              </a:rPr>
              <a:t>+20%/month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2867025"/>
            <a:ext cx="30480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From $10K in Month 7 to $12K in Month 8. Consistent growth creates a J-curve.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MISTAKE 01 // PART B: DEFAULT ALIVE OR DEFAULT DEAD?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8181B"/>
                </a:solidFill>
                <a:latin typeface="Plus Jakarta Sans"/>
              </a:rPr>
              <a:t>Default Alive: Can You Reach Break-Even Before Running Out of Cash?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962525"/>
            <a:ext cx="10972800" cy="742950"/>
          </a:xfrm>
          <a:prstGeom prst="roundRect">
            <a:avLst>
              <a:gd name="adj" fmla="val 12820"/>
            </a:avLst>
          </a:prstGeom>
          <a:solidFill>
            <a:srgbClr val="FAF9F6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24125"/>
            <a:ext cx="3270200" cy="2095500"/>
          </a:xfrm>
          <a:prstGeom prst="roundRect">
            <a:avLst>
              <a:gd name="adj" fmla="val 5454"/>
            </a:avLst>
          </a:prstGeom>
          <a:solidFill>
            <a:srgbClr val="FAF9F6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60825" y="2681287"/>
            <a:ext cx="3270200" cy="1781175"/>
          </a:xfrm>
          <a:prstGeom prst="roundRect">
            <a:avLst>
              <a:gd name="adj" fmla="val 6417"/>
            </a:avLst>
          </a:prstGeom>
          <a:solidFill>
            <a:srgbClr val="FFF7ED"/>
          </a:solidFill>
          <a:ln w="9525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12050" y="2681287"/>
            <a:ext cx="3270200" cy="1781175"/>
          </a:xfrm>
          <a:prstGeom prst="roundRect">
            <a:avLst>
              <a:gd name="adj" fmla="val 641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00" y="3457575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525" y="3457575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5200650"/>
            <a:ext cx="20002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MISTAKE 02 // CHECK-IN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8181B"/>
                </a:solidFill>
                <a:latin typeface="Plus Jakarta Sans"/>
              </a:rPr>
              <a:t>Not Monitoring Finances Frequently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266825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Calculating the numbers once and then forgetting them prevents founders from responding when cash flow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4450" y="5219700"/>
            <a:ext cx="104655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8181B"/>
                </a:solidFill>
                <a:latin typeface="Plus Jakarta Sans"/>
              </a:rPr>
              <a:t>YC’s spot check: Do you know your exact account balance and how many months of runway you have right now?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2838450"/>
            <a:ext cx="3301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1717A"/>
                </a:solidFill>
                <a:latin typeface="JetBrains Mono"/>
              </a:rPr>
              <a:t>LEVEL 01 // COMMON MISTAKE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143250"/>
            <a:ext cx="287364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8181B"/>
                </a:solidFill>
                <a:latin typeface="Plus Jakarta Sans"/>
              </a:rPr>
              <a:t>Quarterly / Monthly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867150"/>
            <a:ext cx="2736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Too late to detect spending that is getting out of control.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5150" y="2995612"/>
            <a:ext cx="3301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A580C"/>
                </a:solidFill>
                <a:latin typeface="JetBrains Mono"/>
              </a:rPr>
              <a:t>LEVEL 02 // YC 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5150" y="3300412"/>
            <a:ext cx="3467034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8181B"/>
                </a:solidFill>
                <a:latin typeface="Plus Jakarta Sans"/>
              </a:rPr>
              <a:t>At Least Weekly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5150" y="3709987"/>
            <a:ext cx="2736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Know your balance and runway whenever someone asks.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6375" y="2995612"/>
            <a:ext cx="3301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91C1C"/>
                </a:solidFill>
                <a:latin typeface="JetBrains Mono"/>
              </a:rPr>
              <a:t>LEVEL 03 // WHEN RUNWAY IS 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6375" y="3300412"/>
            <a:ext cx="3467034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8181B"/>
                </a:solidFill>
                <a:latin typeface="Plus Jakarta Sans"/>
              </a:rPr>
              <a:t>Check Daily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6375" y="3709987"/>
            <a:ext cx="2736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Essential when cash is low or expenses fluctuate significantly.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405312"/>
            <a:ext cx="109728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24112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424112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424112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MISTAKE 03 // COSTS INCREASE OVER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8181B"/>
                </a:solidFill>
                <a:latin typeface="Plus Jakarta Sans"/>
              </a:rPr>
              <a:t>Underestimating Future Real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643437"/>
            <a:ext cx="86995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Plus Jakarta Sans"/>
              </a:rPr>
              <a:t>A prudent rule: Always calculate runway using the worst-case scenario (8 realistic months is better than 10 optimistic months).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8274" y="4691062"/>
            <a:ext cx="18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JetBrains Mono"/>
              </a:rPr>
              <a:t>RUNWAY ISN’T FOR SHOWING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738437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01 // FOUNDER’S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024187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Plus Jakarta Sans"/>
              </a:rPr>
              <a:t>Undervaluing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386137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Paying yourself the minimum creates an artificially low customer acquisition cost.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2738437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02 // EMPLOYEE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725" y="3024187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Plus Jakarta Sans"/>
              </a:rPr>
              <a:t>Add Another 25% to 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386137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A $100K salary costs $125K–$150K+ when equipment and insurance are included.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2738437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03 // PAID MARKETING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024187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Plus Jakarta Sans"/>
              </a:rPr>
              <a:t>Acquisition Costs 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386137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New customers become increasingly harder to find than the first group.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703415"/>
            <a:ext cx="762000" cy="47625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106959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JetBrains Mono"/>
              </a:rPr>
              <a:t>PART 02 // FUNDRAISING &amp; GROWTH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59384"/>
            <a:ext cx="870108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18181B"/>
                </a:solidFill>
                <a:latin typeface="Plus Jakarta Sans"/>
              </a:rPr>
              <a:t>3 Traps to Avoid When You Have Cash in the Bank and Start Hiring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27115"/>
            <a:ext cx="714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52525B"/>
                </a:solidFill>
                <a:latin typeface="Plus Jakarta Sans"/>
              </a:rPr>
              <a:t>Manage the books, control headcount before Product-Market Fit, and choose the right time for your next fundraise.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86012"/>
            <a:ext cx="5334000" cy="30099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243137"/>
            <a:ext cx="5334000" cy="3295650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MISTAKE 04 // BLIND DELEGATION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8181B"/>
                </a:solidFill>
                <a:latin typeface="Plus Jakarta Sans"/>
              </a:rPr>
              <a:t>Handing All Financial Responsibility to Someone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700337"/>
            <a:ext cx="588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1717A"/>
                </a:solidFill>
                <a:latin typeface="JetBrains Mono"/>
              </a:rPr>
              <a:t>DISTINGUISHING FINANCE ROLES (FROM Q&amp;A)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986087"/>
            <a:ext cx="617577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8181B"/>
                </a:solidFill>
                <a:latin typeface="Plus Jakarta Sans"/>
              </a:rPr>
              <a:t>Who Does What in a Startup?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557462"/>
            <a:ext cx="5629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CEO &amp; FOUNDER RESPONSIBILITIES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843212"/>
            <a:ext cx="504063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8181B"/>
                </a:solidFill>
                <a:latin typeface="Plus Jakarta Sans"/>
              </a:rPr>
              <a:t>You Can’t Hire Someone to Take Your 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462337"/>
            <a:ext cx="4800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52525B"/>
                </a:solidFill>
                <a:latin typeface="Plus Jakarta Sans"/>
              </a:rPr>
              <a:t>Bookkeeper: Hire one soon after fundraising to enter bank statements; it is easy to misinterpret the nature of transactions.</a:t>
            </a:r>
            <a:r>
              <a:rPr b="0" sz="1350" i="0" u="none">
                <a:solidFill>
                  <a:srgbClr val="52525B"/>
                </a:solidFill>
                <a:latin typeface="Plus Jakarta San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52887"/>
            <a:ext cx="4800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52525B"/>
                </a:solidFill>
                <a:latin typeface="Plus Jakarta Sans"/>
              </a:rPr>
              <a:t>CPA (tax accountant): Hire one annually to prepare and file tax returns.</a:t>
            </a:r>
            <a:r>
              <a:rPr b="0" sz="1350" i="0" u="none">
                <a:solidFill>
                  <a:srgbClr val="52525B"/>
                </a:solidFill>
                <a:latin typeface="Plus Jakarta Sa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643437"/>
            <a:ext cx="4800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52525B"/>
                </a:solidFill>
                <a:latin typeface="Plus Jakarta Sans"/>
              </a:rPr>
              <a:t>Full-time CFO: Usually needed much later, after a Series A, for strategic planning.</a:t>
            </a:r>
            <a:r>
              <a:rPr b="0" sz="1350" i="0" u="none">
                <a:solidFill>
                  <a:srgbClr val="52525B"/>
                </a:solidFill>
                <a:latin typeface="Plus Jakarta San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605212"/>
            <a:ext cx="4800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52525B"/>
                </a:solidFill>
                <a:latin typeface="Plus Jakarta Sans"/>
              </a:rPr>
              <a:t>Review monthly reports: Never check them off as complete without examining them carefully.</a:t>
            </a:r>
            <a:r>
              <a:rPr b="0" sz="1350" i="0" u="none">
                <a:solidFill>
                  <a:srgbClr val="52525B"/>
                </a:solidFill>
                <a:latin typeface="Plus Jakarta San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4195762"/>
            <a:ext cx="4800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52525B"/>
                </a:solidFill>
                <a:latin typeface="Plus Jakarta Sans"/>
              </a:rPr>
              <a:t>Ask questions immediately: Investigate any revenue or expense figures that differ from expectations.</a:t>
            </a:r>
            <a:r>
              <a:rPr b="0" sz="1350" i="0" u="none">
                <a:solidFill>
                  <a:srgbClr val="52525B"/>
                </a:solidFill>
                <a:latin typeface="Plus Jakarta San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786312"/>
            <a:ext cx="4800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52525B"/>
                </a:solidFill>
                <a:latin typeface="Plus Jakarta Sans"/>
              </a:rPr>
              <a:t>Build your own spreadsheet: Do it yourself to deeply understand your cash flow model.</a:t>
            </a:r>
            <a:r>
              <a:rPr b="0" sz="1350" i="0" u="none">
                <a:solidFill>
                  <a:srgbClr val="52525B"/>
                </a:solidFill>
                <a:latin typeface="Plus Jakarta Sans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32757"/>
            <a:ext cx="4572000" cy="2678310"/>
          </a:xfrm>
          <a:prstGeom prst="roundRect">
            <a:avLst>
              <a:gd name="adj" fmla="val 4267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MISTAKE 05 // PART A: THE HEADCOUNT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8181B"/>
                </a:solidFill>
                <a:latin typeface="Plus Jakarta Sans"/>
              </a:rPr>
              <a:t>Hiring Too Quickly Because of Comparison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951857"/>
            <a:ext cx="4857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A MEANINGFUL PERFORMANCE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237607"/>
            <a:ext cx="3981450" cy="963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b="1" sz="3300" i="0" u="none">
                <a:solidFill>
                  <a:srgbClr val="FAFAF9"/>
                </a:solidFill>
                <a:latin typeface="Plus Jakarta Sans"/>
              </a:rPr>
              <a:t>Revenue per Employee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353817"/>
            <a:ext cx="398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A1A1AA"/>
                </a:solidFill>
                <a:latin typeface="Plus Jakarta Sans"/>
              </a:rPr>
              <a:t>The best companies consistently create more value with fewer employees.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800" y="2624137"/>
            <a:ext cx="6553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8181B"/>
                </a:solidFill>
                <a:latin typeface="Plus Jakarta Sans"/>
              </a:rPr>
              <a:t>Ignore the Headcount Obsession (25 People vs. 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8800" y="2938462"/>
            <a:ext cx="6038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More employees do not mean greater success, and there is no need to rush to hire a data scientist.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8800" y="3605212"/>
            <a:ext cx="6553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8181B"/>
                </a:solidFill>
                <a:latin typeface="Plus Jakarta Sans"/>
              </a:rPr>
              <a:t>Measure the ROI of Every New Hire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8800" y="3919537"/>
            <a:ext cx="6038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Sales staff must generate revenue that exceeds their cost; operations roles must increase company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8800" y="4586287"/>
            <a:ext cx="6553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8181B"/>
                </a:solidFill>
                <a:latin typeface="Plus Jakarta Sans"/>
              </a:rPr>
              <a:t>Be Ready to Let People Go Quickly (Fire Fast)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8800" y="4900612"/>
            <a:ext cx="6553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Act decisively when employees underperform to protect your capital.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7987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47987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14637"/>
            <a:ext cx="350520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62312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62312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28962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JetBrains Mono"/>
              </a:rPr>
              <a:t>MISTAKE 05 // PART B: PRODUCT-MARKET FIT (PMF)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8181B"/>
                </a:solidFill>
                <a:latin typeface="Plus Jakarta Sans"/>
              </a:rPr>
              <a:t>Scaling Before Achieving Product-Market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19512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Plus Jakarta Sans"/>
              </a:rPr>
              <a:t>The Myth That More Salespeople Will Help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81462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Adding salespeople cannot save a product that lacks market appeal.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19512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Plus Jakarta Sans"/>
              </a:rPr>
              <a:t>The Myth That More Engineers Will Help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081462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With PMF, customers are willing to buy even a rough MVP.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586162"/>
            <a:ext cx="312039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Plus Jakarta Sans"/>
              </a:rPr>
              <a:t>The Responsibility to Multiply Capital 10x–100x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214812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Conserve cash as much as possible before PMF to give yourself time to find the right product.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005012"/>
          <a:ext cx="10963274" cy="40671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68773"/>
                <a:gridCol w="3790503"/>
                <a:gridCol w="4603998"/>
              </a:tblGrid>
              <a:tr h="813435">
                <a:tc>
                  <a:txBody>
                    <a:bodyPr/>
                    <a:lstStyle/>
                    <a:p>
                      <a:r>
                        <a:t>RUNWAY / FUNDING STAGE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POSITION &amp; CHARACTERISTICS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REQUIRED 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B"/>
                    </a:solidFill>
                  </a:tcPr>
                </a:tc>
              </a:tr>
              <a:tr h="813435">
                <a:tc>
                  <a:txBody>
                    <a:bodyPr/>
                    <a:lstStyle/>
                    <a:p>
                      <a:r>
                        <a:t>12 Months of Runway Remaining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Strong negotiating position; fully in control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Start planning a fundraise or work toward break-even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6"/>
                    </a:solidFill>
                  </a:tcPr>
                </a:tc>
              </a:tr>
              <a:tr h="813435">
                <a:tc>
                  <a:txBody>
                    <a:bodyPr/>
                    <a:lstStyle/>
                    <a:p>
                      <a:r>
                        <a:t>6 Months of Runway Remaining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Closing a deal takes 3 months, weakening your negotiating position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There may not be enough time to become profitable if fundraising fails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13435">
                <a:tc>
                  <a:txBody>
                    <a:bodyPr/>
                    <a:lstStyle/>
                    <a:p>
                      <a:r>
                        <a:t>Seed Round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Raise funds based on the idea and market size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 need to include monthly growth forecasts in the pitch deck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9F6"/>
                    </a:solidFill>
                  </a:tcPr>
                </a:tc>
              </a:tr>
              <a:tr h="813435">
                <a:tc>
                  <a:txBody>
                    <a:bodyPr/>
                    <a:lstStyle/>
                    <a:p>
                      <a:r>
                        <a:t>Series A and Beyond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Requires PMF and sustainable growth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Needs a clear financial plan and predefined cost-cutting levers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91C1C"/>
                </a:solidFill>
                <a:latin typeface="JetBrains Mono"/>
              </a:rPr>
              <a:t>MISTAKE 06 // THE FATAL, IRREVERSIBLE MISTAKE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8181B"/>
                </a:solidFill>
                <a:latin typeface="Plus Jakarta Sans"/>
              </a:rPr>
              <a:t>Waiting Until You’re Nearly Out of Cash to Start Fundraising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28725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B"/>
                </a:solidFill>
                <a:latin typeface="Plus Jakarta Sans"/>
              </a:rPr>
              <a:t>Golden rule: Always plan as if your current funding will be the last money you ever raise.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7250" y="3895725"/>
            <a:ext cx="2476500" cy="1162050"/>
          </a:xfrm>
          <a:prstGeom prst="roundRect">
            <a:avLst>
              <a:gd name="adj" fmla="val 8196"/>
            </a:avLst>
          </a:prstGeom>
          <a:solidFill>
            <a:srgbClr val="1F1F1E"/>
          </a:solidFill>
          <a:ln w="9525">
            <a:solidFill>
              <a:srgbClr val="2E2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24250" y="3895725"/>
            <a:ext cx="2476500" cy="1162050"/>
          </a:xfrm>
          <a:prstGeom prst="roundRect">
            <a:avLst>
              <a:gd name="adj" fmla="val 8196"/>
            </a:avLst>
          </a:prstGeom>
          <a:solidFill>
            <a:srgbClr val="1F1F1E"/>
          </a:solidFill>
          <a:ln w="9525">
            <a:solidFill>
              <a:srgbClr val="2E2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895725"/>
            <a:ext cx="2476500" cy="1162050"/>
          </a:xfrm>
          <a:prstGeom prst="roundRect">
            <a:avLst>
              <a:gd name="adj" fmla="val 8196"/>
            </a:avLst>
          </a:prstGeom>
          <a:solidFill>
            <a:srgbClr val="1F1F1E"/>
          </a:solidFill>
          <a:ln w="9525">
            <a:solidFill>
              <a:srgbClr val="2E2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0" y="3895725"/>
            <a:ext cx="2476500" cy="1162050"/>
          </a:xfrm>
          <a:prstGeom prst="roundRect">
            <a:avLst>
              <a:gd name="adj" fmla="val 8196"/>
            </a:avLst>
          </a:prstGeom>
          <a:solidFill>
            <a:srgbClr val="1F1F1E"/>
          </a:solidFill>
          <a:ln w="9525">
            <a:solidFill>
              <a:srgbClr val="2E2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11140" y="1800225"/>
            <a:ext cx="53697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EA580C"/>
                </a:solidFill>
                <a:latin typeface="JetBrains Mono"/>
              </a:rPr>
              <a:t>KEY TAKEAWAYS FROM KIRSTY NATHOO // Y COMBINATOR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9292" y="2143125"/>
            <a:ext cx="7313414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AFAF9"/>
                </a:solidFill>
                <a:latin typeface="Plus Jakarta Sans"/>
              </a:rPr>
              <a:t>Thank You &amp; Discussion!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9750" y="3000375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A1A1AA"/>
                </a:solidFill>
                <a:latin typeface="Plus Jakarta Sans"/>
              </a:rPr>
              <a:t>4 core principles to help startups control cash flow and never be caught unexpectedly running out of money: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343" y="4133850"/>
            <a:ext cx="2500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EA580C"/>
                </a:solidFill>
                <a:latin typeface="JetBrains Mono"/>
              </a:rPr>
              <a:t>01 // CASH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343" y="4381500"/>
            <a:ext cx="25003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AFAF9"/>
                </a:solidFill>
                <a:latin typeface="Plus Jakarta Sans"/>
              </a:rPr>
              <a:t>Know Your Balance &amp; Runway Every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2343" y="4133850"/>
            <a:ext cx="2500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EA580C"/>
                </a:solidFill>
                <a:latin typeface="JetBrains Mono"/>
              </a:rPr>
              <a:t>02 //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2343" y="4381500"/>
            <a:ext cx="25003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AFAF9"/>
                </a:solidFill>
                <a:latin typeface="Plus Jakarta Sans"/>
              </a:rPr>
              <a:t>Forecast the Actual Pace of Cost Increases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9343" y="4133850"/>
            <a:ext cx="2500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EA580C"/>
                </a:solidFill>
                <a:latin typeface="JetBrains Mono"/>
              </a:rPr>
              <a:t>03 //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9343" y="4381500"/>
            <a:ext cx="25003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AFAF9"/>
                </a:solidFill>
                <a:latin typeface="Plus Jakarta Sans"/>
              </a:rPr>
              <a:t>Optimize Revenue per Employee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6343" y="4133850"/>
            <a:ext cx="2500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EA580C"/>
                </a:solidFill>
                <a:latin typeface="JetBrains Mono"/>
              </a:rPr>
              <a:t>04 // PROACTIVITY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6343" y="4381500"/>
            <a:ext cx="25003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AFAF9"/>
                </a:solidFill>
                <a:latin typeface="Plus Jakarta Sans"/>
              </a:rPr>
              <a:t>Always Have a Plan to Reach Break-Even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